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MUTUAL</a:t>
            </a:r>
            <a:br/>
            <a:r>
              <a:t>FUND</a:t>
            </a:r>
            <a:br/>
            <a:r>
              <a:t>ANALYTICS</a:t>
            </a:r>
          </a:p>
          <a:p>
            <a:pPr>
              <a:defRPr sz="1800">
                <a:solidFill>
                  <a:srgbClr val="2B6CB0"/>
                </a:solidFill>
                <a:latin typeface="Calibri"/>
              </a:defRPr>
            </a:pPr>
            <a:r>
              <a:t>Capstone Project</a:t>
            </a:r>
            <a:br/>
            <a:r>
              <a:t>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82880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800" b="1">
                <a:solidFill>
                  <a:srgbClr val="1A365D"/>
                </a:solidFill>
                <a:latin typeface="Georgia"/>
              </a:defRPr>
            </a:pPr>
            <a:r>
              <a:t>End-to-End Quantitative Pipeline &amp; Business Intelligence Dashboard</a:t>
            </a:r>
          </a:p>
          <a:p>
            <a:pPr>
              <a:spcAft>
                <a:spcPts val="3600"/>
              </a:spcAft>
              <a:defRPr sz="1600">
                <a:solidFill>
                  <a:srgbClr val="2D3748"/>
                </a:solidFill>
                <a:latin typeface="Calibri"/>
              </a:defRPr>
            </a:pPr>
            <a:r>
              <a:t>A production-grade data engineering and quantitative analytics system designed for the Indian Mutual Fund industry.</a:t>
            </a:r>
          </a:p>
          <a:p>
            <a:pPr>
              <a:defRPr sz="1300">
                <a:solidFill>
                  <a:srgbClr val="718096"/>
                </a:solidFill>
                <a:latin typeface="Calibri"/>
              </a:defRPr>
            </a:pPr>
            <a:r>
              <a:t>Prepared for: BlueStock Intern Project Evaluation</a:t>
            </a:r>
            <a:br/>
            <a:r>
              <a:t>Developed by: Capstone Technical Team</a:t>
            </a:r>
            <a:br/>
            <a:r>
              <a:t>Date: June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6858000" cy="3657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Georgia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0817352" cy="3657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6629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Automated ETL Pipeline:</a:t>
            </a:r>
            <a:r>
              <a:rPr b="0"/>
              <a:t> Standardized and cleaned 10 raw CSV datasets representing over 90,000 transaction, master, and index entries, resolving data anomalies programmatically.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Relational SQLite Database:</a:t>
            </a:r>
            <a:r>
              <a:rPr b="0"/>
              <a:t> Populated a Star Schema SQLite database (bluestock_mf.db) optimizing performance and storage, enforcing structural integrity and primary/foreign key relationships.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Quantitative Financial Engine:</a:t>
            </a:r>
            <a:r>
              <a:rPr b="0"/>
              <a:t> Computed returns, CAGR, Sharpe and Sortino ratios, CAPM Alpha/Beta, and Maximum Drawdowns across 40 schemes over a historical 4.5-year horizon.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Advanced Strategy Modeling:</a:t>
            </a:r>
            <a:r>
              <a:rPr b="0"/>
              <a:t> Developed Value at Risk (VaR), Conditional VaR (CVaR), Herfindahl-Hirschman Index (HHI) for sector concentrations, and customer cohort retention tracking.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Interactive Analytics Dashboard:</a:t>
            </a:r>
            <a:r>
              <a:rPr b="0"/>
              <a:t> Created a responsive 6-page dashboard featuring drill-through scorecards, state-wise flows, demographic insights, and a personalized recommendation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371600"/>
            <a:ext cx="3657600" cy="45720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55448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DATABASE HIGHLIGHTS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40 Mutual Fund Schemes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10 Interlinked Tables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90,000+ Total Records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32,778 Investor Transactions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5,000 Unique Customers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1,043,664 Cr Total AUM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3,521.58M INR Inflow Value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Georgia"/>
              </a:defRPr>
            </a:pPr>
            <a:r>
              <a:t>System Architecture &amp; Decoupled Data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0817352" cy="3657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3748"/>
                </a:solidFill>
                <a:latin typeface="Calibri"/>
              </a:defRPr>
            </a:pPr>
            <a:r>
              <a:t>The system is structured as a modern data engineering pipeline, dividing operations into clear layers: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2377440" cy="3657600"/>
          </a:xfrm>
          <a:prstGeom prst="roundRect">
            <a:avLst/>
          </a:prstGeom>
          <a:solidFill>
            <a:srgbClr val="EDF2F9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defRPr sz="1500" b="1">
                <a:solidFill>
                  <a:srgbClr val="1A365D"/>
                </a:solidFill>
                <a:latin typeface="Georgia"/>
              </a:defRPr>
            </a:pPr>
            <a:r>
              <a:t>Layer 1: Raw Ingestion</a:t>
            </a:r>
          </a:p>
          <a:p>
            <a:pPr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• 10 Ingested CSV Files</a:t>
            </a:r>
          </a:p>
          <a:p>
            <a:pPr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• AMFI REST API Integration</a:t>
            </a:r>
          </a:p>
          <a:p>
            <a:pPr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• Historical Daily NAVs</a:t>
            </a:r>
          </a:p>
          <a:p>
            <a:pPr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• Investor Transactions</a:t>
            </a:r>
          </a:p>
          <a:p>
            <a:pPr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• Portfolio Sector Weights</a:t>
            </a:r>
          </a:p>
          <a:p>
            <a:pPr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• Index closing values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54680" y="3657600"/>
            <a:ext cx="256032" cy="36576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02152" y="2011680"/>
            <a:ext cx="2377440" cy="365760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210312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defRPr sz="1500" b="1">
                <a:solidFill>
                  <a:srgbClr val="1A365D"/>
                </a:solidFill>
                <a:latin typeface="Georgia"/>
              </a:defRPr>
            </a:pPr>
            <a:r>
              <a:t>Layer 2: ETL &amp; Storage</a:t>
            </a:r>
          </a:p>
          <a:p>
            <a:pPr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• Python Standardization</a:t>
            </a:r>
          </a:p>
          <a:p>
            <a:pPr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• Business-day Reindexing</a:t>
            </a:r>
          </a:p>
          <a:p>
            <a:pPr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• Missing NAV Forward-fill</a:t>
            </a:r>
          </a:p>
          <a:p>
            <a:pPr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• SQLite Normalized DB</a:t>
            </a:r>
          </a:p>
          <a:p>
            <a:pPr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• Foreign Key Constraints</a:t>
            </a:r>
          </a:p>
          <a:p>
            <a:pPr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• SQL indexing &amp; queries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71032" y="3657600"/>
            <a:ext cx="256032" cy="36576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18504" y="2011680"/>
            <a:ext cx="2377440" cy="3657600"/>
          </a:xfrm>
          <a:prstGeom prst="roundRect">
            <a:avLst/>
          </a:prstGeom>
          <a:solidFill>
            <a:srgbClr val="E0F3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210312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defRPr sz="1500" b="1">
                <a:solidFill>
                  <a:srgbClr val="1A365D"/>
                </a:solidFill>
                <a:latin typeface="Georgia"/>
              </a:defRPr>
            </a:pPr>
            <a:r>
              <a:t>Layer 3: Quantitative Engine</a:t>
            </a:r>
          </a:p>
          <a:p>
            <a:pPr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• Returns, CAGR, &amp; MDD</a:t>
            </a:r>
          </a:p>
          <a:p>
            <a:pPr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• Sharpe &amp; Sortino ratios</a:t>
            </a:r>
          </a:p>
          <a:p>
            <a:pPr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• CAPM Alpha &amp; Beta Model</a:t>
            </a:r>
          </a:p>
          <a:p>
            <a:pPr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• 95% Daily VaR &amp; CVaR</a:t>
            </a:r>
          </a:p>
          <a:p>
            <a:pPr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• HHI Concentration</a:t>
            </a:r>
          </a:p>
          <a:p>
            <a:pPr>
              <a:spcAft>
                <a:spcPts val="800"/>
              </a:spcAft>
              <a:defRPr sz="1200">
                <a:solidFill>
                  <a:srgbClr val="2D3748"/>
                </a:solidFill>
                <a:latin typeface="Calibri"/>
              </a:defRPr>
            </a:pPr>
            <a:r>
              <a:t>• Cohort retention matrices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87384" y="3657600"/>
            <a:ext cx="256032" cy="36576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34856" y="2011680"/>
            <a:ext cx="2377440" cy="3657600"/>
          </a:xfrm>
          <a:prstGeom prst="roundRect">
            <a:avLst/>
          </a:prstGeom>
          <a:solidFill>
            <a:srgbClr val="1A365D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26296" y="210312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Layer 4: Presentation Layer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Python Server Backend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REST API endpoints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Vanilla JS Frontend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Dynamic Chart.js visuals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Multi-page filtering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Recommendation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Georgia"/>
              </a:defRPr>
            </a:pPr>
            <a:r>
              <a:t>Relational Database Star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0817352" cy="3657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dim_fund (Primary Dimension):</a:t>
            </a:r>
            <a:r>
              <a:rPr b="0"/>
              <a:t> Central master table representing 40 mutual fund schemes, mapping AMFI code, categories, benchmark, and expense ratios.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fact_nav (Historical Dimension):</a:t>
            </a:r>
            <a:r>
              <a:rPr b="0"/>
              <a:t> Stores historical daily NAVs and returns reindexed to business days over 4.5 years (~46,000 rows).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fact_performance (Analytical Dimension):</a:t>
            </a:r>
            <a:r>
              <a:rPr b="0"/>
              <a:t> Houses calculated composite scores, returns, Sharpe, Sortino, Alpha, Beta, MDD, and AUM.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fact_transactions (Behavioral Fact):</a:t>
            </a:r>
            <a:r>
              <a:rPr b="0"/>
              <a:t> Tracks 32,778 transaction logs containing demographic variables, transaction values, and payment modes.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fact_portfolio_holdings (Holding Fact):</a:t>
            </a:r>
            <a:r>
              <a:rPr b="0"/>
              <a:t> Maps portfolio stock symbols, weights, and sectors to each AMFI scheme.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fact_advanced_risk (Risk Fact):</a:t>
            </a:r>
            <a:r>
              <a:rPr b="0"/>
              <a:t> Captures calculated 95% Value at Risk (VaR) and 95% Conditional VaR (CVaR) for all 40 schemes.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fact_sector_concentration (Concentration Fact):</a:t>
            </a:r>
            <a:r>
              <a:rPr b="0"/>
              <a:t> Tracks Herfindahl-Hirschman Index (HHI) and concentration levels based on portfolio weightings.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fact_sip_inflows (Industry Fact):</a:t>
            </a:r>
            <a:r>
              <a:rPr b="0"/>
              <a:t> Tracks aggregate monthly mutual fund SIP inflows, folio registrations, and AUM growth in India.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fact_category_inflows (Industry Fact):</a:t>
            </a:r>
            <a:r>
              <a:rPr b="0"/>
              <a:t> Details net capital inflows across mutual fund categories on a monthly basis.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dim_aum_fund_house &amp; dim_industry_folio:</a:t>
            </a:r>
            <a:r>
              <a:rPr b="0"/>
              <a:t> Store aggregate industry parameters and fund house AUM statements.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Georgia"/>
              </a:defRPr>
            </a:pPr>
            <a:r>
              <a:t>Data Ingestion Pipeline &amp; ETL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0817352" cy="3657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Holiday Reindexing &amp; Forward-Filling:</a:t>
            </a:r>
            <a:r>
              <a:rPr b="0"/>
              <a:t> Daily NAVs in raw data (1,150 dates, Jan 2022 to May 2026) were missing holidays. The pipeline reindexes each scheme to standard business days (freq='B') and forward-fills (ffill) missing values. This prevents computation gaps and keeps chronological data consistent.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Transaction Type Mapping &amp; Normalization:</a:t>
            </a:r>
            <a:r>
              <a:rPr b="0"/>
              <a:t> Cleaned transactional metadata in investor logs. Standardized input strings to strict categories: SIP, Lumpsum, or Redemption, and discarded negative transaction amounts.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KYC Status Standardization:</a:t>
            </a:r>
            <a:r>
              <a:rPr b="0"/>
              <a:t> Cleaned KYC fields, eliminating missing or corrupt strings and mapping them strictly to Verified or Pending to maintain compliance accuracy.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Numeric Constraint Auditing:</a:t>
            </a:r>
            <a:r>
              <a:rPr b="0"/>
              <a:t> Verified that AUM, daily NAV, and transaction amount fields are strictly positive. Enforced expense ratios to standard ranges [0.1%, 2.5%] and converted drawdown percentages to negative values.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Automated Quality Assurance:</a:t>
            </a:r>
            <a:r>
              <a:rPr b="0"/>
              <a:t> Created verify_pipeline.py which performs automated assertions to check table population, relational referential integrity, and data ranges, outputting validation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Georgia"/>
              </a:defRPr>
            </a:pPr>
            <a:r>
              <a:t>Quantitative Returns &amp; Volatility Calculations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0817352" cy="3657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Trailing Daily NAV Returns:</a:t>
            </a:r>
            <a:r>
              <a:rPr b="0"/>
              <a:t> Calculated daily return series using: Return(t) = (NAV(t) - NAV(t-1)) / NAV(t-1). Enforced forward-filled NAVs to guarantee daily return continuity on consecutive business days.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Compounded Annual Growth Rate (CAGR):</a:t>
            </a:r>
            <a:r>
              <a:rPr b="0"/>
              <a:t> Formulated the compound growth rate: CAGR = (Ending Value / Beginning Value) ^ (365.25 / Days) - 1. Calculates annualized performance across the 4.5-year history.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Maximum Drawdown (MDD):</a:t>
            </a:r>
            <a:r>
              <a:rPr b="0"/>
              <a:t> Designed to measure peak-to-trough drops: Drawdown(t) = (NAV(t) - Peak(t)) / Peak(t). The MDD is the minimum observed drawdown value, serving as a worst-case risk proxy.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1A365D"/>
                </a:solidFill>
                <a:latin typeface="Georgia"/>
              </a:defRPr>
            </a:pPr>
            <a:r>
              <a:t>MATHEMATICAL FORMULAS</a:t>
            </a:r>
          </a:p>
          <a:p>
            <a:pPr>
              <a:spcAft>
                <a:spcPts val="2000"/>
              </a:spcAft>
              <a:defRPr sz="1300">
                <a:solidFill>
                  <a:srgbClr val="2B6CB0"/>
                </a:solidFill>
                <a:latin typeface="Consolas"/>
              </a:defRPr>
            </a:pPr>
            <a:r>
              <a:t>Daily Return Formula:</a:t>
            </a:r>
            <a:br/>
            <a:r>
              <a:t>  R_t = (NAV_t - NAV_{t-1}) / NAV_{t-1}</a:t>
            </a:r>
          </a:p>
          <a:p>
            <a:pPr>
              <a:spcAft>
                <a:spcPts val="2000"/>
              </a:spcAft>
              <a:defRPr sz="1300">
                <a:solidFill>
                  <a:srgbClr val="2B6CB0"/>
                </a:solidFill>
                <a:latin typeface="Consolas"/>
              </a:defRPr>
            </a:pPr>
            <a:r>
              <a:t>CAGR Formula:</a:t>
            </a:r>
            <a:br/>
            <a:r>
              <a:t>  CAGR = (V_end / V_begin) ^ (365.25 / d) - 1</a:t>
            </a:r>
          </a:p>
          <a:p>
            <a:pPr>
              <a:spcAft>
                <a:spcPts val="2000"/>
              </a:spcAft>
              <a:defRPr sz="1300">
                <a:solidFill>
                  <a:srgbClr val="2B6CB0"/>
                </a:solidFill>
                <a:latin typeface="Consolas"/>
              </a:defRPr>
            </a:pPr>
            <a:r>
              <a:t>Maximum Drawdown Formula:</a:t>
            </a:r>
            <a:br/>
            <a:r>
              <a:t>  MDD = Min((NAV_t - Peak_t) / Peak_t)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Georgia"/>
              </a:defRPr>
            </a:pPr>
            <a:r>
              <a:t>Risk-Adjusted Performance &amp; CAPM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0817352" cy="3657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Sharpe Ratio:</a:t>
            </a:r>
            <a:r>
              <a:rPr b="0"/>
              <a:t> Measures risk-adjusted excess return: Sharpe = (R_annualized - R_f) / Vol_annualized. Utilizes a standardized 6.0% annual risk-free rate (R_f), annualizing daily returns and standard deviations using 252 business days.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Sortino Ratio:</a:t>
            </a:r>
            <a:r>
              <a:rPr b="0"/>
              <a:t> Focuses solely on downside volatility: Sortino = (R_annualized - R_f) / Vol_downside. Downside deviation is computed strictly from negative daily returns, penalizing only negative variations.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CAPM Beta (β):</a:t>
            </a:r>
            <a:r>
              <a:rPr b="0"/>
              <a:t> Measures systemic market volatility matching daily fund returns against its assigned benchmark index (e.g. NIFTY 100): Beta = Cov(R_fund, R_market) / Var(R_market).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CAPM Alpha (α):</a:t>
            </a:r>
            <a:r>
              <a:rPr b="0"/>
              <a:t> Measures manager outperformance against the market: Alpha = R_fund - [R_f + Beta * (R_market - R_f)].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1A365D"/>
                </a:solidFill>
                <a:latin typeface="Georgia"/>
              </a:defRPr>
            </a:pPr>
            <a:r>
              <a:t>RISK MODEL EQUATIONS</a:t>
            </a:r>
          </a:p>
          <a:p>
            <a:pPr>
              <a:spcAft>
                <a:spcPts val="1500"/>
              </a:spcAft>
              <a:defRPr sz="1300">
                <a:solidFill>
                  <a:srgbClr val="2B6CB0"/>
                </a:solidFill>
                <a:latin typeface="Consolas"/>
              </a:defRPr>
            </a:pPr>
            <a:r>
              <a:t>Sharpe Ratio:</a:t>
            </a:r>
            <a:br/>
            <a:r>
              <a:t>  (Mean(R_d)*252 - 0.06) / (Std(R_d)*sqrt(252))</a:t>
            </a:r>
          </a:p>
          <a:p>
            <a:pPr>
              <a:spcAft>
                <a:spcPts val="1500"/>
              </a:spcAft>
              <a:defRPr sz="1300">
                <a:solidFill>
                  <a:srgbClr val="2B6CB0"/>
                </a:solidFill>
                <a:latin typeface="Consolas"/>
              </a:defRPr>
            </a:pPr>
            <a:r>
              <a:t>Sortino Ratio:</a:t>
            </a:r>
            <a:br/>
            <a:r>
              <a:t>  (Mean(R_d)*252 - 0.06) / (Std(R_neg)*sqrt(252))</a:t>
            </a:r>
          </a:p>
          <a:p>
            <a:pPr>
              <a:spcAft>
                <a:spcPts val="1500"/>
              </a:spcAft>
              <a:defRPr sz="1300">
                <a:solidFill>
                  <a:srgbClr val="2B6CB0"/>
                </a:solidFill>
                <a:latin typeface="Consolas"/>
              </a:defRPr>
            </a:pPr>
            <a:r>
              <a:t>CAPM Beta (β):</a:t>
            </a:r>
            <a:br/>
            <a:r>
              <a:t>  Covariance(R_fund, R_index) / Variance(R_index)</a:t>
            </a:r>
          </a:p>
          <a:p>
            <a:pPr>
              <a:spcAft>
                <a:spcPts val="1500"/>
              </a:spcAft>
              <a:defRPr sz="1300">
                <a:solidFill>
                  <a:srgbClr val="2B6CB0"/>
                </a:solidFill>
                <a:latin typeface="Consolas"/>
              </a:defRPr>
            </a:pPr>
            <a:r>
              <a:t>CAPM Alpha (α):</a:t>
            </a:r>
            <a:br/>
            <a:r>
              <a:t>  R_fund_ann - [R_f + β * (R_index_ann - R_f)]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Georgia"/>
              </a:defRPr>
            </a:pPr>
            <a:r>
              <a:t>Advanced Portfolio Risk &amp; Strategy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0817352" cy="3657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Value at Risk (VaR):</a:t>
            </a:r>
            <a:r>
              <a:rPr b="0"/>
              <a:t> Calculated daily 95% VaR (5th percentile of daily return history). Represents the maximum expected loss over a single business day with a 95% confidence level.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Conditional Value at Risk (CVaR):</a:t>
            </a:r>
            <a:r>
              <a:rPr b="0"/>
              <a:t> Expected loss in the worst 5% tail events (Expected Shortfall). Measures the severity of extreme downside losses (where loss exceeds VaR), capturing systemic tail-risk.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Herfindahl-Hirschman Index (HHI):</a:t>
            </a:r>
            <a:r>
              <a:rPr b="0"/>
              <a:t> Formulated HHI = Sum(w_i^2) to assess sector concentration. Categorized as Diversified (HHI &lt; 1,500), Moderately Concentrated (1,500 - 2,500), or Highly Concentrated (HHI &gt; 2,500).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Cohort Retention Decay:</a:t>
            </a:r>
            <a:r>
              <a:rPr b="0"/>
              <a:t> Categorizes investors into cohorts based on onboarding quarter (e.g. 2024Q1). Tracks active participation decay rates at 3, 6, and 12-month marks to measure customer lifecycle duration.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SIP Continuation Alerts:</a:t>
            </a:r>
            <a:r>
              <a:rPr b="0"/>
              <a:t> Classifies systematic investment plans based on transaction recency. Accounts without transactions for 35+ days are flagged as At Risk to trigger proactive client outreach.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Georgia"/>
              </a:defRPr>
            </a:pPr>
            <a:r>
              <a:t>Key Project Metrics: Database Summary &amp; Inflows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0817352" cy="3657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Total Assets Under Management:</a:t>
            </a:r>
            <a:r>
              <a:rPr b="0"/>
              <a:t> Encompasses 1,043,664.00 Crore INR (~10.4 Lakh Crore) across the 40 mutual fund schemes.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Transaction Auditing:</a:t>
            </a:r>
            <a:r>
              <a:rPr b="0"/>
              <a:t> Successfully verified 32,778 individual transactions spanning 5,000 unique active investors.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Cumulative Capital Inflows:</a:t>
            </a:r>
            <a:r>
              <a:rPr b="0"/>
              <a:t> Aggregated transaction value stands at 3,521,580,430.00 INR (~352 Crore INR).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Digital Payment Penetration:</a:t>
            </a:r>
            <a:r>
              <a:rPr b="0"/>
              <a:t> Digital modes (UPI: 888.24M, Net Banking: 893.49M) have reached complete volume and value parity with traditional methods (Cheque: 892.22M, Mandate: 847.63M).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Digitalization Trend:</a:t>
            </a:r>
            <a:r>
              <a:rPr b="0"/>
              <a:t> UPI accounts for 8,154 transactions, closely matching Net Banking (8,250 transactions) and Cheque (8,228 transactions), signaling high financial digitization.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508760"/>
            <a:ext cx="53949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vestor_payment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30352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532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718096"/>
                </a:solidFill>
                <a:latin typeface="Calibri"/>
              </a:defRPr>
            </a:pPr>
            <a:r>
              <a:t>Fig 1: Inflow volume and value distribution across payment channels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Georgia"/>
              </a:defRPr>
            </a:pPr>
            <a:r>
              <a:t>Mutual Fund Scorecard: Top &amp; Bottom Performers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0817352" cy="3657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Weighted Scorecard formulation:</a:t>
            </a:r>
            <a:r>
              <a:rPr b="0"/>
              <a:t> Designed composite scores utilizing Sharpe (30%), CAPM Alpha (25%), CAGR (20%), Max Drawdown (15%), and Expense Ratio (10%).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Top Performing Funds:</a:t>
            </a:r>
            <a:r>
              <a:rPr b="0"/>
              <a:t> Mirae Asset Large Cap Fund (CAGR: 14.81%, Sharpe: 1.760, MDD: -11.27%), Kotak Flexicap Fund (CAGR: 15.65%, Sharpe: 1.568), and ICICI Pru Midcap Fund (CAGR: 18.08%, Sharpe: 1.391).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Bottom Performing Funds:</a:t>
            </a:r>
            <a:r>
              <a:rPr b="0"/>
              <a:t> Axis Small Cap Fund (CAGR: 1.52%, Sharpe: -0.179, MDD: -51.68%), UTI Mid Cap Fund (Sharpe: -0.266), and SBI Small Cap Fund (CAGR: 2.05%, MDD: -52.57%).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Performance Drivers:</a:t>
            </a:r>
            <a:r>
              <a:rPr b="0"/>
              <a:t> Mid-cap and Large-cap Equity funds dominated the scorecards due to strong bull market growth. Small-caps scored poorly due to severe maximum drawdowns (&gt;50%).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508760"/>
            <a:ext cx="53949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v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30352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532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718096"/>
                </a:solidFill>
                <a:latin typeface="Calibri"/>
              </a:defRPr>
            </a:pPr>
            <a:r>
              <a:t>Fig 2: Historical NAV growth trends of top performing mutual funds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Georgia"/>
              </a:defRPr>
            </a:pPr>
            <a:r>
              <a:t>Investor Demographics &amp; Geographic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0817352" cy="3657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Millennial Dominance (26-35 age cohort):</a:t>
            </a:r>
            <a:r>
              <a:rPr b="0"/>
              <a:t> Represents the largest segment by value, accounting for 1,451,600,218.00 INR (41.2% total market share).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Mid-Career Segment (36-45 age cohort):</a:t>
            </a:r>
            <a:r>
              <a:rPr b="0"/>
              <a:t> Represents the second largest segment, contributing 871,647,528.00 INR (24.8% market share).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Gen Z Adoption (18-25 age cohort):</a:t>
            </a:r>
            <a:r>
              <a:rPr b="0"/>
              <a:t> Represents 15.1% of transactions (531.64M INR), showcasing emerging retail interest.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Geographic Leaders:</a:t>
            </a:r>
            <a:r>
              <a:rPr b="0"/>
              <a:t> Punjab leads with 2,965 transactions (315.78M INR), followed closely by Tamil Nadu (315.18M INR) and Madhya Pradesh (308.31M INR).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Retail Inflow Dispersion:</a:t>
            </a:r>
            <a:r>
              <a:rPr b="0"/>
              <a:t> Small ticket transaction values are highly spread across states, reflecting a broad retail investor footprint.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508760"/>
            <a:ext cx="53949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vestor_demographics_age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30352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532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718096"/>
                </a:solidFill>
                <a:latin typeface="Calibri"/>
              </a:defRPr>
            </a:pPr>
            <a:r>
              <a:t>Fig 3: Age and Gender breakdown of transaction volume and value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Georgia"/>
              </a:defRPr>
            </a:pPr>
            <a:r>
              <a:t>Portfolio Diversification &amp; Sector Weightings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0817352" cy="3657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HHI Concentration Audit:</a:t>
            </a:r>
            <a:r>
              <a:rPr b="0"/>
              <a:t> Out of 34 equity funds, 3 are classified as Diversified (HHI &lt; 1,500), 27 as Moderately Concentrated (1,500-2,500), and 4 as Highly Concentrated (HHI &gt; 2,500).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Average Concentration Levels:</a:t>
            </a:r>
            <a:r>
              <a:rPr b="0"/>
              <a:t> The average HHI for moderately concentrated schemes lies at 2,014.96. Highly concentrated funds average 2,641.02, indicating high stock-specific risk.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Key Sector Allocations:</a:t>
            </a:r>
            <a:r>
              <a:rPr b="0"/>
              <a:t> Portfolio structures lean heavily on Banking (average weight of 10.87%, representing 62,840 Crore AUM) and IT sectors (average weight of 11.39%, 38,477 Crore AUM).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Concentration Risk:</a:t>
            </a:r>
            <a:r>
              <a:rPr b="0"/>
              <a:t> Highly concentrated funds require close monitoring, as their returns are tightly coupled to banking and IT sector cycles.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508760"/>
            <a:ext cx="53949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ctor_holdings_tree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30352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532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718096"/>
                </a:solidFill>
                <a:latin typeface="Calibri"/>
              </a:defRPr>
            </a:pPr>
            <a:r>
              <a:t>Fig 4: Sector holdings treemap showing asset allocations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Georgia"/>
              </a:defRPr>
            </a:pPr>
            <a:r>
              <a:t>Investor Cohort Retention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0817352" cy="3657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Cohort Grouping:</a:t>
            </a:r>
            <a:r>
              <a:rPr b="0"/>
              <a:t> Monitored active investor decay quarterly based on onboarding cohorts to capture structural retention patterns.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2024Q1 Cohort (High Stability):</a:t>
            </a:r>
            <a:r>
              <a:rPr b="0"/>
              <a:t> Started with 3,236 investors. Exhibits strong retention: 70.92% active after 3 months, stabilizing at 69.62% active after 12 months.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2024Q2 Cohort (Moderate Decay):</a:t>
            </a:r>
            <a:r>
              <a:rPr b="0"/>
              <a:t> Onboarded 971 investors. Retention declines to 63.13% active after 3 months, dropping to 48.71% active at Year 1.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2024Q4 Cohort (Critical Churn):</a:t>
            </a:r>
            <a:r>
              <a:rPr b="0"/>
              <a:t> Onboarded 186 investors. Severe decay observed: only 40.32% active at 3 months, falling to 26.34% active at 6 months.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Strategic Conclusion:</a:t>
            </a:r>
            <a:r>
              <a:rPr b="0"/>
              <a:t> Year-end cohorts pose high attrition risk, necessitating engagement campaigns within their first 60 days.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508760"/>
            <a:ext cx="53949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p_accounts_active_vs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30352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532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718096"/>
                </a:solidFill>
                <a:latin typeface="Calibri"/>
              </a:defRPr>
            </a:pPr>
            <a:r>
              <a:t>Fig 5: Growth of active versus newly registered systematic investment plans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Georgia"/>
              </a:defRPr>
            </a:pPr>
            <a:r>
              <a:t>SIP Continuation &amp; Investor Churn 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0817352" cy="3657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Continuation Classification:</a:t>
            </a:r>
            <a:r>
              <a:rPr b="0"/>
              <a:t> Classified SIP accounts based on transaction recency. Active SIPs have transacted in the last 35 days; At Risk SIPs show no activity for 35+ days.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Continuation Metrics:</a:t>
            </a:r>
            <a:r>
              <a:rPr b="0"/>
              <a:t> Active SIP Investors: 1,241 (26.1%). At Risk SIP Investors: 3,521 (73.9%).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Churn Hazard:</a:t>
            </a:r>
            <a:r>
              <a:rPr b="0"/>
              <a:t> More than 73% of SIP investors have lapsed, indicating a high number of paused or canceled mandates. This constitutes a severe cash flow retention risk.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Volatility Impacts:</a:t>
            </a:r>
            <a:r>
              <a:rPr b="0"/>
              <a:t> The high number of at-risk SIPs corresponds to periods of short-term market consolidation, causing retail investors to pause plans.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Strategic Imperative:</a:t>
            </a:r>
            <a:r>
              <a:rPr b="0"/>
              <a:t> Re-engaging at-risk accounts is the most critical commercial priority to stabilize recurring capital inflows.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508760"/>
            <a:ext cx="539496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p_monthly_in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30352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5532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718096"/>
                </a:solidFill>
                <a:latin typeface="Calibri"/>
              </a:defRPr>
            </a:pPr>
            <a:r>
              <a:t>Fig 6: Monthly SIP inflows (Crore INR) showing growth trajectory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Georgia"/>
              </a:defRPr>
            </a:pPr>
            <a:r>
              <a:t>Strategic Recommendations &amp; Action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0817352" cy="36576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173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Millennial Engagement &amp; UPI Focus:</a:t>
            </a:r>
            <a:r>
              <a:rPr b="0"/>
              <a:t> Since investors aged 26-35 represent 41.2% (1,451M INR) of total transaction value, prioritize mobile-first interfaces, quick UPI payments, and seamless digital onboarding.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Q4 Cohort Retention Push:</a:t>
            </a:r>
            <a:r>
              <a:rPr b="0"/>
              <a:t> Cohorts onboarded in Q4 show severe drop-offs (only 26.3% active after 6 months). Deploy targeted push notifications, educational newsletters, and reward incentives in their first 60 days.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Automated SIP Resumption Prompts:</a:t>
            </a:r>
            <a:r>
              <a:rPr b="0"/>
              <a:t> To combat the 73.9% At-Risk SIP rate, implement automated triggers. When an investor skips a scheduled transaction (no contribution in 30 days), prompt them with one-click 'Resume' or 'Pause for 3 Months' actions.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HHI Concentration Alerts:</a:t>
            </a:r>
            <a:r>
              <a:rPr b="0"/>
              <a:t> For investors holding 'Highly Concentrated' portfolios (HHI &gt; 2,500), implement dashboard recommendations proposing supplementary 'Diversified' funds (HHI &lt; 1,500) to balance holdings risk.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  <a:latin typeface="Calibri"/>
              </a:defRPr>
            </a:pPr>
            <a:r>
              <a:rPr b="1">
                <a:solidFill>
                  <a:srgbClr val="1A365D"/>
                </a:solidFill>
              </a:rPr>
              <a:t>Next Steps:</a:t>
            </a:r>
            <a:r>
              <a:rPr b="0"/>
              <a:t> Embed these metrics and automated notifications directly into the dashboard platform. Monitor monthly cohort decay to assess the effectiveness of the targeted retention campaigns.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